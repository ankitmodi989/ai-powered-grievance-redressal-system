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Macro-F1 on Held-Out Test Set (600 rows)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Department</c:v>
                  </c:pt>
                  <c:pt idx="1">
                    <c:v>Priority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0.896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7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3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7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spreadsheets/d/15JGQ3ycYO3KXuaIWE4g2V1HL5KvkC4DBWQk3iOttdsc/edit?gid=0#gid=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2C378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2C3785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7772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KIET Group of Institutions, Delhi-NCR, Ghaziabad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to Dr. A.P.J. Abdul Kalam Technical University (AKTU), Lucknow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627632"/>
            <a:ext cx="265176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96596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 an AI-Based Solution to Enable Ease of Grievance Lodging and Tracking for Citizens Across Multiple Departments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2C37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794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PCS-27-10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50844" y="3794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Classification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50844" y="411480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24448" y="3794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411480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98051" y="379476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Presentation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098051" y="411480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07-08-2026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(CS) Final Year Project Presentation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93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7607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Names: Abhay Pratap, Anubhav Mittal, Ankit Modi, Anshuman Rai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0533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Mr. Vivek Kr. Sharma (Assistant Professor)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727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17904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Submission &amp; Routing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files a grievance, which is manually reviewed by a person and then forwarded to the concerned department.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3008" y="1371600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1608" y="15727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16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64528" y="1517904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Process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4528" y="182880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forwarding delays resolution and creates bottlenecks in the redressal cycle.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644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09544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Human Resource Cost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2044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manpower is required just to read and route grievances to the right department.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3008" y="3063240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1608" y="32644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1608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64528" y="3209544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Tracking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4528" y="352044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limited visibility into where their grievance stands once it is forwarded.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chatbot that understands citizen input and automatically decides how it should be handled — eliminating manual reading and forwarding.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Chatbot)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2286000"/>
            <a:ext cx="457200" cy="32004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20574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057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194560"/>
            <a:ext cx="1005840" cy="-594360"/>
          </a:xfrm>
          <a:prstGeom prst="line">
            <a:avLst/>
          </a:prstGeom>
          <a:noFill/>
          <a:ln w="12700">
            <a:solidFill>
              <a:srgbClr val="7A7F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697480"/>
            <a:ext cx="1005840" cy="594360"/>
          </a:xfrm>
          <a:prstGeom prst="line">
            <a:avLst/>
          </a:prstGeom>
          <a:noFill/>
          <a:ln w="12700">
            <a:solidFill>
              <a:srgbClr val="7A7F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55448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1554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Query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directly by chatbot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260604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2606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 to the correct department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29800" y="2807208"/>
            <a:ext cx="365760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260604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87000" y="2606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51525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31596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22452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reading of every submission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38218" y="4114800"/>
            <a:ext cx="351525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39386" y="431596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95418" y="422452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routing, faster resolution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7797" y="4114800"/>
            <a:ext cx="351525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8965" y="431596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84997" y="422452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human resource dependency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 (MVP)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783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1783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user details securely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24877" y="1965960"/>
            <a:ext cx="164592" cy="182880"/>
          </a:xfrm>
          <a:prstGeom prst="rightArrow">
            <a:avLst/>
          </a:prstGeom>
          <a:solidFill>
            <a:srgbClr val="7A7F94"/>
          </a:solidFill>
          <a:ln/>
        </p:spPr>
      </p:sp>
      <p:sp>
        <p:nvSpPr>
          <p:cNvPr id="8" name="Shape 6"/>
          <p:cNvSpPr/>
          <p:nvPr/>
        </p:nvSpPr>
        <p:spPr>
          <a:xfrm>
            <a:off x="2807757" y="137160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44917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944917" y="1874520"/>
            <a:ext cx="1783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44917" y="2212848"/>
            <a:ext cx="1783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query in natural language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83993" y="1965960"/>
            <a:ext cx="164592" cy="182880"/>
          </a:xfrm>
          <a:prstGeom prst="rightArrow">
            <a:avLst/>
          </a:prstGeom>
          <a:solidFill>
            <a:srgbClr val="7A7F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66873" y="137160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04033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04033" y="1874520"/>
            <a:ext cx="1783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204033" y="2212848"/>
            <a:ext cx="1783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detects query vs. grievance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43110" y="1965960"/>
            <a:ext cx="164592" cy="182880"/>
          </a:xfrm>
          <a:prstGeom prst="rightArrow">
            <a:avLst/>
          </a:prstGeom>
          <a:solidFill>
            <a:srgbClr val="7A7F94"/>
          </a:solidFill>
          <a:ln/>
        </p:spPr>
      </p:sp>
      <p:sp>
        <p:nvSpPr>
          <p:cNvPr id="18" name="Shape 16"/>
          <p:cNvSpPr/>
          <p:nvPr/>
        </p:nvSpPr>
        <p:spPr>
          <a:xfrm>
            <a:off x="7325990" y="137160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63150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63150" y="1874520"/>
            <a:ext cx="1783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463150" y="2212848"/>
            <a:ext cx="1783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sent to correct department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02227" y="1965960"/>
            <a:ext cx="164592" cy="182880"/>
          </a:xfrm>
          <a:prstGeom prst="rightArrow">
            <a:avLst/>
          </a:prstGeom>
          <a:solidFill>
            <a:srgbClr val="7A7F94"/>
          </a:solidFill>
          <a:ln/>
        </p:spPr>
      </p:sp>
      <p:sp>
        <p:nvSpPr>
          <p:cNvPr id="23" name="Shape 21"/>
          <p:cNvSpPr/>
          <p:nvPr/>
        </p:nvSpPr>
        <p:spPr>
          <a:xfrm>
            <a:off x="9585107" y="1371600"/>
            <a:ext cx="2057949" cy="1371600"/>
          </a:xfrm>
          <a:prstGeom prst="roundRect">
            <a:avLst>
              <a:gd name="adj" fmla="val 4000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22267" y="1481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722267" y="1874520"/>
            <a:ext cx="1783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722267" y="2212848"/>
            <a:ext cx="1783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updated: Resolved / Pending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200400"/>
            <a:ext cx="11094415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Capabilities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7490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grievances routed to the department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— Resolved or Pending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status/progress message back to the citizen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for this flow are built; classification &amp; routing model is functional.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 separates concerns cleanly — each layer can be developed, tested, and scaled independently.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83280" y="1801368"/>
            <a:ext cx="0" cy="621792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783080"/>
            <a:ext cx="7756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HTML, JavaScript — Chatbot UI, Citizen Dashboard, Admin Panel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95848" y="2532888"/>
            <a:ext cx="0" cy="128016"/>
          </a:xfrm>
          <a:prstGeom prst="line">
            <a:avLst/>
          </a:prstGeom>
          <a:noFill/>
          <a:ln w="19050">
            <a:solidFill>
              <a:srgbClr val="7A7F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660904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2C37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523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83280" y="2770632"/>
            <a:ext cx="0" cy="621792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752344"/>
            <a:ext cx="7756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REST API — Authentication, Session Handling, Request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48" y="3502152"/>
            <a:ext cx="0" cy="128016"/>
          </a:xfrm>
          <a:prstGeom prst="line">
            <a:avLst/>
          </a:prstGeom>
          <a:noFill/>
          <a:ln w="19050">
            <a:solidFill>
              <a:srgbClr val="7A7F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630168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7216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83280" y="3739896"/>
            <a:ext cx="0" cy="621792"/>
          </a:xfrm>
          <a:prstGeom prst="line">
            <a:avLst/>
          </a:prstGeom>
          <a:noFill/>
          <a:ln w="12700">
            <a:solidFill>
              <a:srgbClr val="1E2761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3721608"/>
            <a:ext cx="7756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→ TF-IDF Feature Extraction → Department &amp; Priority Classifiers → Confidence Gating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5848" y="4471416"/>
            <a:ext cx="0" cy="128016"/>
          </a:xfrm>
          <a:prstGeom prst="line">
            <a:avLst/>
          </a:prstGeom>
          <a:noFill/>
          <a:ln w="19050">
            <a:solidFill>
              <a:srgbClr val="7A7F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599432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2C37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6908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383280" y="4709160"/>
            <a:ext cx="0" cy="621792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4690872"/>
            <a:ext cx="7756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Grievances, Users, Status Logs, Routing History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citizen query moves through the system end-to-end, including the confidence-based safety check.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5448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query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80360" y="1792224"/>
            <a:ext cx="274320" cy="164592"/>
          </a:xfrm>
          <a:prstGeom prst="rightArrow">
            <a:avLst/>
          </a:prstGeom>
          <a:solidFill>
            <a:srgbClr val="7A7F94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155448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10128" y="155448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receives &amp; logs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32120" y="1792224"/>
            <a:ext cx="274320" cy="164592"/>
          </a:xfrm>
          <a:prstGeom prst="rightArrow">
            <a:avLst/>
          </a:prstGeom>
          <a:solidFill>
            <a:srgbClr val="7A7F94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155448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155448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classifies 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03720" y="2221992"/>
            <a:ext cx="182880" cy="256032"/>
          </a:xfrm>
          <a:prstGeom prst="downArrow">
            <a:avLst/>
          </a:prstGeom>
          <a:solidFill>
            <a:srgbClr val="7A7F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6440" y="2514600"/>
            <a:ext cx="2377440" cy="8229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2514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Query?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2926080"/>
            <a:ext cx="-1371600" cy="0"/>
          </a:xfrm>
          <a:prstGeom prst="line">
            <a:avLst/>
          </a:prstGeom>
          <a:noFill/>
          <a:ln w="15875">
            <a:solidFill>
              <a:srgbClr val="7A7F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88920" y="260604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8892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Query: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answers directly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83880" y="2926080"/>
            <a:ext cx="365760" cy="0"/>
          </a:xfrm>
          <a:prstGeom prst="line">
            <a:avLst/>
          </a:prstGeom>
          <a:noFill/>
          <a:ln w="15875">
            <a:solidFill>
              <a:srgbClr val="7A7F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60604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49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Department + Priority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0" y="3273552"/>
            <a:ext cx="182880" cy="219456"/>
          </a:xfrm>
          <a:prstGeom prst="downArrow">
            <a:avLst/>
          </a:prstGeom>
          <a:solidFill>
            <a:srgbClr val="7A7F94"/>
          </a:solidFill>
          <a:ln/>
        </p:spPr>
      </p:sp>
      <p:sp>
        <p:nvSpPr>
          <p:cNvPr id="22" name="Shape 20"/>
          <p:cNvSpPr/>
          <p:nvPr/>
        </p:nvSpPr>
        <p:spPr>
          <a:xfrm>
            <a:off x="8458200" y="352044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582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0.6 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4069080"/>
            <a:ext cx="-982980" cy="274320"/>
          </a:xfrm>
          <a:prstGeom prst="line">
            <a:avLst/>
          </a:prstGeom>
          <a:noFill/>
          <a:ln w="15875">
            <a:solidFill>
              <a:srgbClr val="7A7F9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4069080"/>
            <a:ext cx="982980" cy="274320"/>
          </a:xfrm>
          <a:prstGeom prst="line">
            <a:avLst/>
          </a:prstGeom>
          <a:noFill/>
          <a:ln w="15875">
            <a:solidFill>
              <a:srgbClr val="7A7F9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0" y="4343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1E7A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4343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Auto-route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department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38360" y="4343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38360" y="4343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Flag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2C378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53035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status (Resolved / Pending)  →  Citizen sees live status in tracking dashboard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model was built following a standard supervised ML pipeline, adapted for multilingual text.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00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Curation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grievance text gathered and labeled with department + priority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9386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3938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3500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269748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normalization, script-aware cleaning (Latin + Devanagari), de-duplication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8965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8965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35000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269748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word bigrams + character 3–5-grams to handle Hinglish code-switching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749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24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720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classifiers, one head each for department and priority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38218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9386" y="3749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39386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66818" y="4224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66818" y="45720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85/15 train-test split, scored with macro-F1 per target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27797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8965" y="374904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8965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56397" y="4224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Deployment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56397" y="45720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predictions routed to human review instead of auto-routing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Preview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working prototype — landing page and the AI chatbot submitting a real grievance.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6616" y="1709928"/>
            <a:ext cx="4933021" cy="288950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pic>
        <p:nvPicPr>
          <p:cNvPr id="5" name="Image 0" descr="/home/claude/ppt/screenshots/landing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768" y="1783080"/>
            <a:ext cx="4786717" cy="2743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9768" y="4636008"/>
            <a:ext cx="4786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3374" y="1709928"/>
            <a:ext cx="5591705" cy="288950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pic>
        <p:nvPicPr>
          <p:cNvPr id="8" name="Image 1" descr="/home/claude/ppt/screenshots/chatbot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526" y="1783080"/>
            <a:ext cx="5445401" cy="2743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26526" y="4636008"/>
            <a:ext cx="54454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— Grievance Submission &amp; Tracking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Existing System Study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development, relevant research papers were studied and the existing government platform CPGRAMS was analyzed for gaps.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Platform: CPGRAMS — Centralized Public Grievance Redress and Monitoring System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in CPGRAMS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17296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10896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747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Grievances are not always directed to the right department reliably.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8218" y="297180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9386" y="317296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95418" y="310896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66818" y="34747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grievance text is sometimes treated as a normal query instead.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7797" y="297180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8965" y="317296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84997" y="310896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Grievances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34747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robust mechanism to detect and remove duplicate submissions.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directly targets these three gaps through automated, model-driven classification and routing.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dataset was curated and used to train the grievance classification and routing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804008" y="19202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04008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804008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(FULL CURATED SET)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78728" y="19202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78728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56616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used to train the model that classifies incoming text as a normal query or a grievance, and predicts the relevant department.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9441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Training Sample (this presentation's demo model)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3,996 labeled grievance rows across 8 departments (street_lights, water_supply, drainage, sanitation, roads, electricity, health_safety, public_services)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text: English, Hindi, and Hinglish (romanized Hindi) complaints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 — Approach &amp;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trained and evaluated on the sample dataset: TF-IDF (word + character n-grams) features feeding two linear classifiers — one for department, one for priority.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874520"/>
            <a:ext cx="533369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201168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character n-grams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2331720"/>
            <a:ext cx="4876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capture sub-word patterns that work across English, Hindi, and Hinglish code-switching — without needing separate per-language pipelines.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09360" y="3291840"/>
            <a:ext cx="5333695" cy="132588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342900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routing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3749040"/>
            <a:ext cx="4876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below a 0.6 confidence threshold are flagged “needs_review” and sent to a human instead of being auto-routed — a safety net against silent misrouting.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94415" cy="1005840"/>
        </p:xfrm>
        <a:graphic>
          <a:graphicData uri="http://schemas.openxmlformats.org/drawingml/2006/table">
            <a:tbl>
              <a:tblPr/>
              <a:tblGrid>
                <a:gridCol w="5120640"/>
                <a:gridCol w="2103120"/>
                <a:gridCol w="1828800"/>
                <a:gridCol w="20116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(excerpt)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“Ward 12 mein paani ki supply nahi aa rahi...”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water_supply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Auto-routed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“...chauraha me light ki problem he”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street_lights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4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76540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7654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HTML, JavaScript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0824" y="1463040"/>
            <a:ext cx="256786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18724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18724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82264" y="23774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82264" y="26974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1463040"/>
            <a:ext cx="256786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60908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60908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23774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24448" y="26974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75191" y="1463040"/>
            <a:ext cx="2567864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63500" dist="25400" dir="5400000">
              <a:srgbClr val="9CA3AF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103091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103091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66631" y="237744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Query Handling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66631" y="2697480"/>
            <a:ext cx="238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4290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full-stack architecture combining a responsive React frontend, a scalable Node.js backend, a relational PostgreSQL database, and Groq's fast inference API for AI-driven query handling.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2808"/>
            <a:ext cx="292608" cy="292608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6479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39112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React, HTML, JavaScript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31860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61488"/>
            <a:ext cx="292608" cy="292608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63347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07792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Node.js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1860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30168"/>
            <a:ext cx="292608" cy="292608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0215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Routing Model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776472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classifies input and routes grievances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128016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Pending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24448" y="1691640"/>
            <a:ext cx="531860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7328" y="1892808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07328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18808" y="176479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 Building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918808" y="2039112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24448" y="2560320"/>
            <a:ext cx="531860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7328" y="2761488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07328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18808" y="263347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918808" y="2907792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Analytics Dashboard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grievance data to identify which areas generate the most grievances and which categories are most common — enabling departments to focus resources where they are needed most.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1525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871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32304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Area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2555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regions/localities with high grievance volume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8218" y="2286000"/>
            <a:ext cx="351525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6818" y="24871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6681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69738" y="2432304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69738" y="2743200"/>
            <a:ext cx="2555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grievance categories are most frequent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7797" y="2286000"/>
            <a:ext cx="351525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6397" y="2487168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6397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59317" y="2432304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Action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59317" y="2743200"/>
            <a:ext cx="2555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resources toward high-need areas and categories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17904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88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prior research on AI-based grievance classification and routing systems.</a:t>
            </a:r>
            <a:endParaRPr lang="en-US" sz="11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1554480" y="2139696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2E6F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compiled research papers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4415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89504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004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dataset (8,000 rows x 16 columns) compiled for model training (source link — to be added).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94415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61104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CPGRAMS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720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Public Grievance Redress and Monitoring System — pgportal.gov.in, studied as the existing benchmark system.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2C378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2C3785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Grievance Lodging &amp; Tracking System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2026-09-07T02:19:35Z</dcterms:created>
  <dcterms:modified xsi:type="dcterms:W3CDTF">2026-09-07T02:19:35Z</dcterms:modified>
</cp:coreProperties>
</file>